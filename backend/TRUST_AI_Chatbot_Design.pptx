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651760"/>
            <a:ext cx="3657600" cy="3657600"/>
          </a:xfrm>
          <a:prstGeom prst="ellipse">
            <a:avLst/>
          </a:prstGeom>
          <a:solidFill>
            <a:srgbClr val="1A4A5C">
              <a:alpha val="38000"/>
            </a:srgbClr>
          </a:solidFill>
          <a:ln w="12700">
            <a:solidFill>
              <a:srgbClr val="1A4A5C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74320"/>
            <a:ext cx="1828800" cy="1828800"/>
          </a:xfrm>
          <a:prstGeom prst="ellipse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1005840"/>
            <a:ext cx="914400" cy="914400"/>
          </a:xfrm>
          <a:prstGeom prst="ellipse">
            <a:avLst/>
          </a:prstGeom>
          <a:solidFill>
            <a:srgbClr val="E8A87C">
              <a:alpha val="28000"/>
            </a:srgbClr>
          </a:solidFill>
          <a:ln w="12700">
            <a:solidFill>
              <a:srgbClr val="E8A87C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TRUST AI  —  CHATBOT DESIGN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969264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</a:rPr>
              <a:t>Designing the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</a:rPr>
              <a:t>Therapist Brain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84048" y="2798064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C4D0"/>
                </a:solidFill>
              </a:rPr>
              <a:t>A Techno-Psychiatrist Perspective on Intelligent,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C4D0"/>
                </a:solidFill>
              </a:rPr>
              <a:t>Minimal-Question, Context-Aware Digital Therapy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3657600"/>
            <a:ext cx="2304288" cy="384048"/>
          </a:xfrm>
          <a:prstGeom prst="rect">
            <a:avLst/>
          </a:prstGeom>
          <a:solidFill>
            <a:srgbClr val="0A7EA4">
              <a:alpha val="38000"/>
            </a:srgbClr>
          </a:solidFill>
          <a:ln w="12700">
            <a:solidFill>
              <a:srgbClr val="0A7EA4">
                <a:alpha val="6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371246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Listen 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3657600"/>
            <a:ext cx="2304288" cy="384048"/>
          </a:xfrm>
          <a:prstGeom prst="rect">
            <a:avLst/>
          </a:prstGeom>
          <a:solidFill>
            <a:srgbClr val="0A7EA4">
              <a:alpha val="38000"/>
            </a:srgbClr>
          </a:solidFill>
          <a:ln w="12700">
            <a:solidFill>
              <a:srgbClr val="0A7EA4">
                <a:alpha val="6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371246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Already Knows You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85232" y="3657600"/>
            <a:ext cx="2304288" cy="384048"/>
          </a:xfrm>
          <a:prstGeom prst="rect">
            <a:avLst/>
          </a:prstGeom>
          <a:solidFill>
            <a:srgbClr val="0A7EA4">
              <a:alpha val="38000"/>
            </a:srgbClr>
          </a:solidFill>
          <a:ln w="12700">
            <a:solidFill>
              <a:srgbClr val="0A7EA4">
                <a:alpha val="6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371246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Heal, Not Interrogate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" y="4846320"/>
            <a:ext cx="9015984" cy="297180"/>
          </a:xfrm>
          <a:prstGeom prst="rect">
            <a:avLst/>
          </a:prstGeom>
          <a:solidFill>
            <a:srgbClr val="1A4A5C">
              <a:alpha val="35000"/>
            </a:srgbClr>
          </a:solidFill>
          <a:ln w="12700">
            <a:solidFill>
              <a:srgbClr val="1A4A5C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8737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0"/>
                </a:solidFill>
              </a:rPr>
              <a:t>Trust AI  •  Chatbot Clinical Design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</a:rPr>
              <a:t>THE CORE CLINICAL DESIGN PRINCIPLE — WHAT MAKES THIS DIFFERENT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109728" cy="91440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9536"/>
            <a:ext cx="8211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FFFFFF"/>
                </a:solidFill>
              </a:rPr>
              <a:t>A good therapist walks into the room already knowing your name, your history, and why you're having a hard day.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FFFFFF"/>
                </a:solidFill>
              </a:rPr>
              <a:t>They don't ask 'how are you feeling?' — they say 'It looks like last night was tough. Want to talk about it?'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8346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2834640" cy="3108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9280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OLD WAY ✗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2212848"/>
            <a:ext cx="2615184" cy="201168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84048" y="22128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6E"/>
                </a:solidFill>
              </a:rPr>
              <a:t>Traditional chatbot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432304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0000"/>
                </a:solidFill>
              </a:rPr>
              <a:t>'How are you feeling today?'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8B0000"/>
                </a:solidFill>
              </a:rPr>
              <a:t>'On a scale of 1–10, rate your anxiety.'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8B0000"/>
                </a:solidFill>
              </a:rPr>
              <a:t>'What seems to be the problem?'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8B0000"/>
                </a:solidFill>
              </a:rPr>
              <a:t>'Can you tell me more?'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3401568"/>
            <a:ext cx="2615184" cy="0"/>
          </a:xfrm>
          <a:prstGeom prst="line">
            <a:avLst/>
          </a:prstGeom>
          <a:noFill/>
          <a:ln w="12700">
            <a:solidFill>
              <a:srgbClr val="E0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49300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A7EA4"/>
                </a:solidFill>
              </a:rPr>
              <a:t>TRUST AI WAY 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6941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6E"/>
                </a:solidFill>
              </a:rPr>
              <a:t>Trust AI Chatbot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3895344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4A1A"/>
                </a:solidFill>
              </a:rPr>
              <a:t>Already knows: mood index, sleep score, risk level, addiction type, recent check-in, last video watched.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4A1A"/>
                </a:solidFill>
              </a:rPr>
              <a:t>Opens with context, not questions.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36976" y="1828800"/>
            <a:ext cx="28346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36976" y="1828800"/>
            <a:ext cx="2834640" cy="310896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189280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OLD WAY ✗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6704" y="2212848"/>
            <a:ext cx="2615184" cy="201168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3346704" y="22128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6E"/>
                </a:solidFill>
              </a:rPr>
              <a:t>Static response library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46704" y="2432304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0000"/>
                </a:solidFill>
              </a:rPr>
              <a:t>Same CBT script for every patient, every mood, every addiction type. One-size-fits-all feels robotic and patients disengage within 2–3 sessions.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46704" y="3401568"/>
            <a:ext cx="2615184" cy="0"/>
          </a:xfrm>
          <a:prstGeom prst="line">
            <a:avLst/>
          </a:prstGeom>
          <a:noFill/>
          <a:ln w="12700">
            <a:solidFill>
              <a:srgbClr val="E0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349300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7B6FA0"/>
                </a:solidFill>
              </a:rPr>
              <a:t>TRUST AI WAY 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46704" y="36941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6E"/>
                </a:solidFill>
              </a:rPr>
              <a:t>Live patient state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46704" y="3895344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4A1A"/>
                </a:solidFill>
              </a:rPr>
              <a:t>Response is generated from the patient's current state vector: mood + risk + addiction type + time of day + recent triggers + content history.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99632" y="1828800"/>
            <a:ext cx="28346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1828800"/>
            <a:ext cx="2834640" cy="310896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189280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OLD WAY ✗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2212848"/>
            <a:ext cx="2615184" cy="201168"/>
          </a:xfrm>
          <a:prstGeom prst="rect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6309360" y="22128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6E"/>
                </a:solidFill>
              </a:rPr>
              <a:t>Text-only therapy bot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432304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0000"/>
                </a:solidFill>
              </a:rPr>
              <a:t>Long paragraphs of psychoeducation. Patients with high craving intensity cannot read. Cognitive load is too high during distress.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3401568"/>
            <a:ext cx="2615184" cy="0"/>
          </a:xfrm>
          <a:prstGeom prst="line">
            <a:avLst/>
          </a:prstGeom>
          <a:noFill/>
          <a:ln w="12700">
            <a:solidFill>
              <a:srgbClr val="E0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49300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8A87C"/>
                </a:solidFill>
              </a:rPr>
              <a:t>TRUST AI WAY 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36941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6E"/>
                </a:solidFill>
              </a:rPr>
              <a:t>Text + Video response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3895344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4A1A"/>
                </a:solidFill>
              </a:rPr>
              <a:t>Short validating text (2–3 lines) + one precisely matched video. Let the video do the therapeutic work. Less is more in crisis.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2D">
              <a:alpha val="12000"/>
            </a:srgbClr>
          </a:solidFill>
          <a:ln w="12700">
            <a:solidFill>
              <a:srgbClr val="0D1F2D">
                <a:alpha val="1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Trust AI  •  Clinical Design Principle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</a:rPr>
              <a:t>WHAT THE CHATBOT ALREADY KNOWS — THE PATIENT CONTEXT VECTOR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D5A6E"/>
                </a:solidFill>
              </a:rPr>
              <a:t>Before the patient types a single word, the chatbot has loaded this context. No questions needed for basics.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8346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834640" cy="3108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698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</a:rPr>
              <a:t>FROM ONBOARDING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1444752"/>
            <a:ext cx="73152" cy="7315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40817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Addiction Type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2064" y="155448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Alcohol / Cannabis / Nicotine / Gaming / Opioids / Behavioral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1810512"/>
            <a:ext cx="73152" cy="7315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77393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Baseline Mood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064" y="192024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Emotional profile set at intake — lonely, angry, guilty pattern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048" y="2176272"/>
            <a:ext cx="73152" cy="7315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13969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Primary Triggers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2064" y="228600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Social situations, stress, specific places, people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2542032"/>
            <a:ext cx="73152" cy="7315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50545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Support Network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2064" y="265176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Sponsor name + contact, family members, therapist assigned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36976" y="1005840"/>
            <a:ext cx="28346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36976" y="1005840"/>
            <a:ext cx="2834640" cy="310896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10698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</a:rPr>
              <a:t>FROM DAILY CHECK-IN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64992" y="1444752"/>
            <a:ext cx="73152" cy="73152"/>
          </a:xfrm>
          <a:prstGeom prst="ellipse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40817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Today's Mood State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93008" y="155448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Happy / Neutral / Sad / Angry / Stressed / Lonely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64992" y="1810512"/>
            <a:ext cx="73152" cy="73152"/>
          </a:xfrm>
          <a:prstGeom prst="ellipse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77393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Sleep Quality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93008" y="192024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Last night's rating — poor sleep elevates craving risk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64992" y="2176272"/>
            <a:ext cx="73152" cy="73152"/>
          </a:xfrm>
          <a:prstGeom prst="ellipse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13969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Craving Intensity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93008" y="228600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Current slider value — none to severe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64992" y="2542032"/>
            <a:ext cx="73152" cy="73152"/>
          </a:xfrm>
          <a:prstGeom prst="ellipse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250545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Medication Taken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93008" y="265176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Yes / No — missed doses increase relapse probability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17920" y="2980944"/>
            <a:ext cx="28346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980944"/>
            <a:ext cx="2834640" cy="310896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304495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</a:rPr>
              <a:t>FROM RISK ENGINE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45936" y="3419856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Live Risk Score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73952" y="352958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Current 0–100 score + 7-day trend direction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45936" y="3785616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74904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Risk Level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73952" y="389534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Low / Medium / High / Critical — drives chatbot tone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345936" y="4151376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411480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Key Risk Drivers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73952" y="426110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SHAP top-3 factors today (e.g. sleep -18, stress +14)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345936" y="4517136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448056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Crisis Flag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73952" y="462686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TRUE / FALSE — set by NLP or threshold breach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56032" y="2980944"/>
            <a:ext cx="28346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56032" y="2980944"/>
            <a:ext cx="2834640" cy="31089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04495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</a:rPr>
              <a:t>FROM CONTENT ENGINE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84048" y="3419856"/>
            <a:ext cx="73152" cy="7315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" y="338328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Last Video Watched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12064" y="352958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'Deep Breathing' — 3 hours ago, 80% completion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84048" y="3785616"/>
            <a:ext cx="73152" cy="7315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" y="374904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Content Preferences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12064" y="389534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Short videos preferred, responds to narrative format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84048" y="4151376"/>
            <a:ext cx="73152" cy="7315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" y="411480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Skipped Content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12064" y="426110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Never finishes meditation — offer alternatives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84048" y="4517136"/>
            <a:ext cx="73152" cy="7315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" y="448056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Most Effective Content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12064" y="462686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Breathing + delay response consistently rated 👍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36976" y="4956048"/>
            <a:ext cx="28346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36976" y="4956048"/>
            <a:ext cx="2834640" cy="31089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46704" y="50200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</a:rPr>
              <a:t>FROM SESSION HISTORY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364992" y="5394960"/>
            <a:ext cx="73152" cy="73152"/>
          </a:xfrm>
          <a:prstGeom prst="ellipse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93008" y="535838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Past Chat Themes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493008" y="550468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Often discusses workplace stress, loneliness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364992" y="5760720"/>
            <a:ext cx="73152" cy="73152"/>
          </a:xfrm>
          <a:prstGeom prst="ellipse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93008" y="572414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What Has Worked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493008" y="587044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Reframing technique landed well on 3 March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364992" y="6126480"/>
            <a:ext cx="73152" cy="73152"/>
          </a:xfrm>
          <a:prstGeom prst="ellipse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93008" y="608990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Unresolved Threads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493008" y="623620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Family conflict raised but not resolved last session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364992" y="6492240"/>
            <a:ext cx="73152" cy="73152"/>
          </a:xfrm>
          <a:prstGeom prst="ellipse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93008" y="645566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Engagement Pattern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493008" y="660196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Chats most at 9–11pm — high-risk window identified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217920" y="4956048"/>
            <a:ext cx="28346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217920" y="4956048"/>
            <a:ext cx="2834640" cy="310896"/>
          </a:xfrm>
          <a:prstGeom prst="rect">
            <a:avLst/>
          </a:prstGeom>
          <a:solidFill>
            <a:srgbClr val="C25B7A"/>
          </a:solidFill>
          <a:ln w="12700">
            <a:solidFill>
              <a:srgbClr val="C25B7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27648" y="50200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</a:rPr>
              <a:t>REAL-TIME SIGNALS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345936" y="5394960"/>
            <a:ext cx="73152" cy="73152"/>
          </a:xfrm>
          <a:prstGeom prst="ellipse">
            <a:avLst/>
          </a:prstGeom>
          <a:solidFill>
            <a:srgbClr val="C25B7A"/>
          </a:solidFill>
          <a:ln w="12700">
            <a:solidFill>
              <a:srgbClr val="C25B7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73952" y="535838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Time of Day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473952" y="550468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Evening = higher craving risk for alcohol profiles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345936" y="5760720"/>
            <a:ext cx="73152" cy="73152"/>
          </a:xfrm>
          <a:prstGeom prst="ellipse">
            <a:avLst/>
          </a:prstGeom>
          <a:solidFill>
            <a:srgbClr val="C25B7A"/>
          </a:solidFill>
          <a:ln w="12700">
            <a:solidFill>
              <a:srgbClr val="C25B7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73952" y="572414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Day of Week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473952" y="587044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Weekends = higher relapse risk for most addiction types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345936" y="6126480"/>
            <a:ext cx="73152" cy="73152"/>
          </a:xfrm>
          <a:prstGeom prst="ellipse">
            <a:avLst/>
          </a:prstGeom>
          <a:solidFill>
            <a:srgbClr val="C25B7A"/>
          </a:solidFill>
          <a:ln w="12700">
            <a:solidFill>
              <a:srgbClr val="C25B7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73952" y="608990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Location Context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473952" y="623620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Wearable / GPS proximity to known trigger locations (P2)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345936" y="6492240"/>
            <a:ext cx="73152" cy="73152"/>
          </a:xfrm>
          <a:prstGeom prst="ellipse">
            <a:avLst/>
          </a:prstGeom>
          <a:solidFill>
            <a:srgbClr val="C25B7A"/>
          </a:solidFill>
          <a:ln w="12700">
            <a:solidFill>
              <a:srgbClr val="C25B7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73952" y="645566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2D"/>
                </a:solidFill>
              </a:rPr>
              <a:t>Wearable Biometrics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6473952" y="660196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HRV drop, elevated skin conductance detected (P2)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2D">
              <a:alpha val="12000"/>
            </a:srgbClr>
          </a:solidFill>
          <a:ln w="12700">
            <a:solidFill>
              <a:srgbClr val="0D1F2D">
                <a:alpha val="12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Trust AI  •  Patient Context Vector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</a:rPr>
              <a:t>CONVERSATION ARCHITECTURE — THE MINIMAL-QUESTION DIALOGUE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A6E"/>
                </a:solidFill>
              </a:rPr>
              <a:t>Every conversation follows a 5-layer structure. The chatbot resolves in the fewest possible turns — ideally one.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548640" cy="7132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704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119872" y="1078992"/>
            <a:ext cx="694944" cy="256032"/>
          </a:xfrm>
          <a:prstGeom prst="rect">
            <a:avLst/>
          </a:prstGeom>
          <a:solidFill>
            <a:srgbClr val="0A7EA4">
              <a:alpha val="22000"/>
            </a:srgbClr>
          </a:solidFill>
          <a:ln w="12700">
            <a:solidFill>
              <a:srgbClr val="0A7EA4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109728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0A7EA4"/>
                </a:solidFill>
              </a:rPr>
              <a:t>ZERO QUESTIONS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96112" y="104241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</a:rPr>
              <a:t>GREET WITH CONTEXT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124358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Never ask 'how are you'. Open with what you already know. Acknowledge the patient's current state directly. This signals 'I see you' — the foundation of therapeutic alliance.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93792" y="1078992"/>
            <a:ext cx="2834640" cy="530352"/>
          </a:xfrm>
          <a:prstGeom prst="rect">
            <a:avLst/>
          </a:prstGeom>
          <a:solidFill>
            <a:srgbClr val="0A7EA4">
              <a:alpha val="10000"/>
            </a:srgbClr>
          </a:solidFill>
          <a:ln w="12700">
            <a:solidFill>
              <a:srgbClr val="0A7EA4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11155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1F2D"/>
                </a:solidFill>
              </a:rPr>
              <a:t>"Hi Alvin. Your check-in showed some stress today and you didn't sleep well. That combination can make cravings stronger. I'm here."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" y="1764792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764792"/>
            <a:ext cx="548640" cy="713232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9476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119872" y="1856232"/>
            <a:ext cx="694944" cy="256032"/>
          </a:xfrm>
          <a:prstGeom prst="rect">
            <a:avLst/>
          </a:prstGeom>
          <a:solidFill>
            <a:srgbClr val="7B6FA0">
              <a:alpha val="22000"/>
            </a:srgbClr>
          </a:solidFill>
          <a:ln w="12700">
            <a:solidFill>
              <a:srgbClr val="7B6FA0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187452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7B6FA0"/>
                </a:solidFill>
              </a:rPr>
              <a:t>MAX 1 PROMPT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96112" y="181965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</a:rPr>
              <a:t>INVITE, DON'T INTERROGATE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6112" y="202082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One open invitation — not a question — gives the patient agency without pressure. The system then listens for content keywords, emotion markers, and intent signals.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93792" y="1856232"/>
            <a:ext cx="2834640" cy="530352"/>
          </a:xfrm>
          <a:prstGeom prst="rect">
            <a:avLst/>
          </a:prstGeom>
          <a:solidFill>
            <a:srgbClr val="7B6FA0">
              <a:alpha val="10000"/>
            </a:srgbClr>
          </a:solidFill>
          <a:ln w="12700">
            <a:solidFill>
              <a:srgbClr val="7B6FA0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89280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1F2D"/>
                </a:solidFill>
              </a:rPr>
              <a:t>"You can tell me what's on your mind, or I can suggest something that's helped others on days like this."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2542032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542032"/>
            <a:ext cx="54864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7249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119872" y="2633472"/>
            <a:ext cx="694944" cy="256032"/>
          </a:xfrm>
          <a:prstGeom prst="rect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26517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028090"/>
                </a:solidFill>
              </a:rPr>
              <a:t>MAX 1 QUESTION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96112" y="259689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</a:rPr>
              <a:t>UNDERSTAND WITH ONE CLARIFYING QUESTION (IF NEEDED)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" y="279806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If the patient's input is ambiguous, ask ONE targeted question only. The question is pre-selected by NLP intent classification, not a generic follow-up. Most inputs will not need this step.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93792" y="2633472"/>
            <a:ext cx="2834640" cy="530352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48656" y="267004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1F2D"/>
                </a:solidFill>
              </a:rPr>
              <a:t>NLP detects: addiction=alcohol, theme=social_trigger, emotion=anxious → clarify only IF intent is still ambiguous. Skip if confident.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" y="3319272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319272"/>
            <a:ext cx="548640" cy="713232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35021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119872" y="3410712"/>
            <a:ext cx="694944" cy="256032"/>
          </a:xfrm>
          <a:prstGeom prst="rect">
            <a:avLst/>
          </a:prstGeom>
          <a:solidFill>
            <a:srgbClr val="E8A87C">
              <a:alpha val="22000"/>
            </a:srgbClr>
          </a:solidFill>
          <a:ln w="12700">
            <a:solidFill>
              <a:srgbClr val="E8A87C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342900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E8A87C"/>
                </a:solidFill>
              </a:rPr>
              <a:t>RESOLUTION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96112" y="33741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</a:rPr>
              <a:t>RESPOND WITH TEXT + VIDEO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112" y="357530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2–3 lines of warm, validating text that normalises the feeling. Then one precisely matched video pulled from the content engine using current patient state. Text holds space; video does the therapy.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93792" y="3410712"/>
            <a:ext cx="2834640" cy="530352"/>
          </a:xfrm>
          <a:prstGeom prst="rect">
            <a:avLst/>
          </a:prstGeom>
          <a:solidFill>
            <a:srgbClr val="E8A87C">
              <a:alpha val="10000"/>
            </a:srgbClr>
          </a:solidFill>
          <a:ln w="12700">
            <a:solidFill>
              <a:srgbClr val="E8A87C">
                <a:alpha val="3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48656" y="344728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1F2D"/>
                </a:solidFill>
              </a:rPr>
              <a:t>"Feeling anxious before a social event is really common in recovery — it doesn't mean you're failing.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0D1F2D"/>
                </a:solidFill>
              </a:rPr>
              <a:t>[Video: Managing Social Triggers — 4 min]"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56032" y="4096512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4096512"/>
            <a:ext cx="548640" cy="7132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42793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8119872" y="4187952"/>
            <a:ext cx="694944" cy="256032"/>
          </a:xfrm>
          <a:prstGeom prst="rect">
            <a:avLst/>
          </a:prstGeom>
          <a:solidFill>
            <a:srgbClr val="52B788">
              <a:alpha val="22000"/>
            </a:srgbClr>
          </a:solidFill>
          <a:ln w="12700">
            <a:solidFill>
              <a:srgbClr val="52B788">
                <a:alpha val="5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19872" y="42062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52B788"/>
                </a:solidFill>
              </a:rPr>
              <a:t>HANDOFF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896112" y="415137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2D"/>
                </a:solidFill>
              </a:rPr>
              <a:t>CLOSE WITH AGENCY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96112" y="435254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End the exchange by returning control to the patient. Offer a next step — not another question. One soft CTA: a tool, a practice, or an opt-out.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93792" y="4187952"/>
            <a:ext cx="2834640" cy="530352"/>
          </a:xfrm>
          <a:prstGeom prst="rect">
            <a:avLst/>
          </a:prstGeom>
          <a:solidFill>
            <a:srgbClr val="52B788">
              <a:alpha val="10000"/>
            </a:srgbClr>
          </a:solidFill>
          <a:ln w="12700">
            <a:solidFill>
              <a:srgbClr val="52B788">
                <a:alpha val="3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48656" y="42245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1F2D"/>
                </a:solidFill>
              </a:rPr>
              <a:t>"Try the 4-7-8 breathing before you go — it takes 2 minutes and it works. I'll check in with you later."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2D">
              <a:alpha val="12000"/>
            </a:srgbClr>
          </a:solidFill>
          <a:ln w="12700">
            <a:solidFill>
              <a:srgbClr val="0D1F2D">
                <a:alpha val="1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Trust AI  •  Conversation Architecture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</a:rPr>
              <a:t>INTENT CLASSIFICATION — HOW THE CHATBOT DECIDES WHAT TO DO WITH EVERY MESSAGE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694944"/>
            <a:ext cx="8631936" cy="475488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Patient types a message  →  NLP Pipeline  →  Intent + Emotion + Theme + Urgency Score  →  Response Router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98448"/>
            <a:ext cx="2834640" cy="329184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624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VENTING / EMOTIONAL EXPRESSION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2615184" cy="256032"/>
          </a:xfrm>
          <a:prstGeom prst="rect">
            <a:avLst/>
          </a:prstGeom>
          <a:solidFill>
            <a:srgbClr val="7B6FA0">
              <a:alpha val="12000"/>
            </a:srgbClr>
          </a:solidFill>
          <a:ln w="12700">
            <a:solidFill>
              <a:srgbClr val="7B6FA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7373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1F2D"/>
                </a:solidFill>
              </a:rPr>
              <a:t>"'I feel like I can't do this anymore'"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02996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7B6FA0"/>
                </a:solidFill>
              </a:rPr>
              <a:t>TRIGGERS: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2176272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feel like giving up'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2322576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'This is so hard'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'I'm exhausted'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2615184" cy="0"/>
          </a:xfrm>
          <a:prstGeom prst="line">
            <a:avLst/>
          </a:prstGeom>
          <a:noFill/>
          <a:ln w="10160">
            <a:solidFill>
              <a:srgbClr val="E0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6FA0"/>
                </a:solidFill>
              </a:rPr>
              <a:t>RESPONSE: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760" y="279806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D5A6E"/>
                </a:solidFill>
              </a:rPr>
              <a:t>Validate first. No advice yet. 1–2 lines of empathy + a video on emotional regulation or peer support story. Do NOT offer solutions immediately.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236976" y="1298448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36976" y="1298448"/>
            <a:ext cx="2834640" cy="329184"/>
          </a:xfrm>
          <a:prstGeom prst="rect">
            <a:avLst/>
          </a:prstGeom>
          <a:solidFill>
            <a:srgbClr val="C25B7A"/>
          </a:solidFill>
          <a:ln w="12700">
            <a:solidFill>
              <a:srgbClr val="C25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6704" y="13624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CRAVING / URGE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46704" y="1700784"/>
            <a:ext cx="2615184" cy="256032"/>
          </a:xfrm>
          <a:prstGeom prst="rect">
            <a:avLst/>
          </a:prstGeom>
          <a:solidFill>
            <a:srgbClr val="C25B7A">
              <a:alpha val="12000"/>
            </a:srgbClr>
          </a:solidFill>
          <a:ln w="12700">
            <a:solidFill>
              <a:srgbClr val="C25B7A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7373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1F2D"/>
                </a:solidFill>
              </a:rPr>
              <a:t>"'I'm staring at a bottle right now'"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46704" y="202996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C25B7A"/>
                </a:solidFill>
              </a:rPr>
              <a:t>TRIGGERS: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46704" y="2176272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really want a drink'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46704" y="2322576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'The urge is so strong'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46704" y="2468880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'I'm at a party'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46704" y="2633472"/>
            <a:ext cx="2615184" cy="0"/>
          </a:xfrm>
          <a:prstGeom prst="line">
            <a:avLst/>
          </a:prstGeom>
          <a:noFill/>
          <a:ln w="10160">
            <a:solidFill>
              <a:srgbClr val="E0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6704" y="267004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25B7A"/>
                </a:solidFill>
              </a:rPr>
              <a:t>RESPONSE: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346704" y="279806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D5A6E"/>
                </a:solidFill>
              </a:rPr>
              <a:t>Urgency detected. Skip all preamble. Immediately: Delay Response technique (text) + craving management video. Offer sponsor call if severity is high.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217920" y="1298448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1298448"/>
            <a:ext cx="283464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3624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SEEKING INFORMATION / PSYCHOEDUCATION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27648" y="1700784"/>
            <a:ext cx="2615184" cy="256032"/>
          </a:xfrm>
          <a:prstGeom prst="rect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17373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1F2D"/>
                </a:solidFill>
              </a:rPr>
              <a:t>"'Why does stress make me want to drink more?'"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27648" y="202996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0A7EA4"/>
                </a:solidFill>
              </a:rPr>
              <a:t>TRIGGERS: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27648" y="2176272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'Why do I get cravings at night?'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27648" y="2322576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'What is withdrawal?'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27648" y="2468880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'How does CBT work?'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327648" y="2633472"/>
            <a:ext cx="2615184" cy="0"/>
          </a:xfrm>
          <a:prstGeom prst="line">
            <a:avLst/>
          </a:prstGeom>
          <a:noFill/>
          <a:ln w="10160">
            <a:solidFill>
              <a:srgbClr val="E0E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267004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7EA4"/>
                </a:solidFill>
              </a:rPr>
              <a:t>RESPONSE: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327648" y="279806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D5A6E"/>
                </a:solidFill>
              </a:rPr>
              <a:t>Pull from RAG knowledge base (3TB PDF corpus). Short answer (3–4 lines) + a psychoeducation video on the specific topic. Cite source type.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256032" y="3108960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6032" y="3108960"/>
            <a:ext cx="2834640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17296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PROGRESS / POSITIVE CHECK-IN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511296"/>
            <a:ext cx="2615184" cy="256032"/>
          </a:xfrm>
          <a:prstGeom prst="rect">
            <a:avLst/>
          </a:prstGeom>
          <a:solidFill>
            <a:srgbClr val="52B788">
              <a:alpha val="12000"/>
            </a:srgbClr>
          </a:solidFill>
          <a:ln w="12700">
            <a:solidFill>
              <a:srgbClr val="52B788">
                <a:alpha val="3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3547872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1F2D"/>
                </a:solidFill>
              </a:rPr>
              <a:t>"'I've been sober for 3 weeks!'"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384048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2B788"/>
                </a:solidFill>
              </a:rPr>
              <a:t>TRIGGERS: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65760" y="3986784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made it 7 days'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65760" y="4133088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didn't drink last night'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65760" y="4279392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feel good today'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4443984"/>
            <a:ext cx="2615184" cy="0"/>
          </a:xfrm>
          <a:prstGeom prst="line">
            <a:avLst/>
          </a:prstGeom>
          <a:noFill/>
          <a:ln w="10160">
            <a:solidFill>
              <a:srgbClr val="E0EA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8056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2B788"/>
                </a:solidFill>
              </a:rPr>
              <a:t>RESPONSE: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65760" y="460857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D5A6E"/>
                </a:solidFill>
              </a:rPr>
              <a:t>Celebrate briefly. Reinforce with a motivational story video. Bridge to next milestone. Do not immediately probe for problems — hold the positive space.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3236976" y="3108960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36976" y="3108960"/>
            <a:ext cx="283464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46704" y="317296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RELAPSE DISCLOSURE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46704" y="3511296"/>
            <a:ext cx="2615184" cy="256032"/>
          </a:xfrm>
          <a:prstGeom prst="rect">
            <a:avLst/>
          </a:prstGeom>
          <a:solidFill>
            <a:srgbClr val="E8A87C">
              <a:alpha val="12000"/>
            </a:srgbClr>
          </a:solidFill>
          <a:ln w="12700">
            <a:solidFill>
              <a:srgbClr val="E8A87C">
                <a:alpha val="3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0" y="3547872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1F2D"/>
                </a:solidFill>
              </a:rPr>
              <a:t>"'I had a drink last night. I feel ashamed.'"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46704" y="384048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E8A87C"/>
                </a:solidFill>
              </a:rPr>
              <a:t>TRIGGERS: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346704" y="3986784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slipped last night'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46704" y="4133088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drank again'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346704" y="4279392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smoked'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346704" y="4443984"/>
            <a:ext cx="2615184" cy="0"/>
          </a:xfrm>
          <a:prstGeom prst="line">
            <a:avLst/>
          </a:prstGeom>
          <a:noFill/>
          <a:ln w="10160">
            <a:solidFill>
              <a:srgbClr val="E0EA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46704" y="448056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A87C"/>
                </a:solidFill>
              </a:rPr>
              <a:t>RESPONSE: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346704" y="460857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D5A6E"/>
                </a:solidFill>
              </a:rPr>
              <a:t>No judgment — ever. Immediate compassion. Normalise the slip. Then: one video on relapse as part of recovery + offer to talk to therapist. Update risk model.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6217920" y="3108960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217920" y="3108960"/>
            <a:ext cx="2834640" cy="32918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27648" y="317296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CRISIS / HARM IDEATION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327648" y="3511296"/>
            <a:ext cx="2615184" cy="256032"/>
          </a:xfrm>
          <a:prstGeom prst="rect">
            <a:avLst/>
          </a:prstGeom>
          <a:solidFill>
            <a:srgbClr val="8B1A1A">
              <a:alpha val="12000"/>
            </a:srgbClr>
          </a:solidFill>
          <a:ln w="12700">
            <a:solidFill>
              <a:srgbClr val="8B1A1A">
                <a:alpha val="3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64224" y="3547872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1F2D"/>
                </a:solidFill>
              </a:rPr>
              <a:t>"'I feel like ending everything'"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327648" y="384048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8B1A1A"/>
                </a:solidFill>
              </a:rPr>
              <a:t>TRIGGERS: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27648" y="3986784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want to hurt myself'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327648" y="4133088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want to stab someone'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327648" y="4279392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→  'I can't go on'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327648" y="4443984"/>
            <a:ext cx="2615184" cy="0"/>
          </a:xfrm>
          <a:prstGeom prst="line">
            <a:avLst/>
          </a:prstGeom>
          <a:noFill/>
          <a:ln w="10160">
            <a:solidFill>
              <a:srgbClr val="E0EA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27648" y="448056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1A1A"/>
                </a:solidFill>
              </a:rPr>
              <a:t>RESPONSE: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327648" y="460857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D5A6E"/>
                </a:solidFill>
              </a:rPr>
              <a:t>Crisis protocol: system prompt overrides to de-escalation mode. Breathing video auto-loads. Background: Kafka CRISIS_EVENT → Twilio call to sponsor. No advice — only presence.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2D">
              <a:alpha val="12000"/>
            </a:srgbClr>
          </a:solidFill>
          <a:ln w="12700">
            <a:solidFill>
              <a:srgbClr val="0D1F2D">
                <a:alpha val="12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Trust AI  •  Intent Classification &amp; Response Routing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</a:rPr>
              <a:t>RESPONSE COMPOSITION — HOW TEXT AND VIDEO WORK TOGETHER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D5A6E"/>
                </a:solidFill>
              </a:rPr>
              <a:t>The response is a therapeutic unit — not just an answer. Text validates. Video heals.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4133088" cy="3785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9264"/>
            <a:ext cx="4133088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2412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TEXT RESPONSE ANATOMY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" y="1408176"/>
            <a:ext cx="3968496" cy="731520"/>
          </a:xfrm>
          <a:prstGeom prst="rect">
            <a:avLst/>
          </a:prstGeom>
          <a:solidFill>
            <a:srgbClr val="F4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408176"/>
            <a:ext cx="73152" cy="7315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4447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A4"/>
                </a:solidFill>
              </a:rPr>
              <a:t>LINE 1 — VALIDATION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6E"/>
                </a:solidFill>
              </a:rPr>
              <a:t>Acknowledge the feeling without judgement. Name the emotion back to them. 1 sentence max.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34640" y="1481328"/>
            <a:ext cx="1389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0D1F2D"/>
                </a:solidFill>
              </a:rPr>
              <a:t>"That sounds really exhausting, and it makes sense you're feeling this way."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29184" y="2212848"/>
            <a:ext cx="3968496" cy="731520"/>
          </a:xfrm>
          <a:prstGeom prst="rect">
            <a:avLst/>
          </a:prstGeom>
          <a:solidFill>
            <a:srgbClr val="F4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" y="2212848"/>
            <a:ext cx="73152" cy="73152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494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FA0"/>
                </a:solidFill>
              </a:rPr>
              <a:t>LINE 2 — NORMALISATION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432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6E"/>
                </a:solidFill>
              </a:rPr>
              <a:t>Contextualise within recovery. Remove shame. Connect to their specific situation.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34640" y="2286000"/>
            <a:ext cx="1389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0D1F2D"/>
                </a:solidFill>
              </a:rPr>
              <a:t>"Evening cravings are one of the hardest parts of alcohol recovery — especially after a stressful day."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29184" y="3017520"/>
            <a:ext cx="3968496" cy="731520"/>
          </a:xfrm>
          <a:prstGeom prst="rect">
            <a:avLst/>
          </a:prstGeom>
          <a:solidFill>
            <a:srgbClr val="F4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017520"/>
            <a:ext cx="73152" cy="7315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0540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7C"/>
                </a:solidFill>
              </a:rPr>
              <a:t>LINE 3 — BRIDGE TO ACTION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6E"/>
                </a:solidFill>
              </a:rPr>
              <a:t>One specific, concrete, immediately doable suggestion. Not generic advice.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34640" y="3090672"/>
            <a:ext cx="1389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0D1F2D"/>
                </a:solidFill>
              </a:rPr>
              <a:t>"There's a short technique that stops cravings in their tracks — let me show you."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29184" y="3822192"/>
            <a:ext cx="3968496" cy="731520"/>
          </a:xfrm>
          <a:prstGeom prst="rect">
            <a:avLst/>
          </a:prstGeom>
          <a:solidFill>
            <a:srgbClr val="FFF0F0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" y="3822192"/>
            <a:ext cx="73152" cy="731520"/>
          </a:xfrm>
          <a:prstGeom prst="rect">
            <a:avLst/>
          </a:prstGeom>
          <a:solidFill>
            <a:srgbClr val="C25B7A"/>
          </a:solidFill>
          <a:ln w="12700">
            <a:solidFill>
              <a:srgbClr val="C25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587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5B7A"/>
                </a:solidFill>
              </a:rPr>
              <a:t>RULE: NEVER DO THESE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6E"/>
                </a:solidFill>
              </a:rPr>
              <a:t>Never say: 'I understand how you feel.' / Never give a list of 5 tips. / Never end with 'Let me know if you need anything else.' / Never diagnose or label.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34640" y="3895344"/>
            <a:ext cx="1389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0D1F2D"/>
                </a:solidFill>
              </a:rPr>
              <a:t>Avoid clinical jargon. Avoid cheerful toxic positivity. No exclamation marks in distress responses.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4572000" y="969264"/>
            <a:ext cx="4315968" cy="3785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969264"/>
            <a:ext cx="4315968" cy="347472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1024128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VIDEO SELECTION LOGIC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1389888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7C"/>
                </a:solidFill>
              </a:rPr>
              <a:t>INPUT SIGNALS TO VIDEO SELECTOR: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0016" y="1645920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60934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2D"/>
                </a:solidFill>
              </a:rPr>
              <a:t>Intent class (craving / venting / info / crisis)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0016" y="1883664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184708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2D"/>
                </a:solidFill>
              </a:rPr>
              <a:t>Addiction type (alcohol / cannabis / nicotine / gaming)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0016" y="2121408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08483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2D"/>
                </a:solidFill>
              </a:rPr>
              <a:t>Current mood state from check-in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0016" y="2359152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32257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2D"/>
                </a:solidFill>
              </a:rPr>
              <a:t>Risk level (low / medium / high / critical)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0016" y="2596896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56032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2D"/>
                </a:solidFill>
              </a:rPr>
              <a:t>Last 3 videos watched (avoid repeats)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0016" y="2834640"/>
            <a:ext cx="73152" cy="7315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79806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2D"/>
                </a:solidFill>
              </a:rPr>
              <a:t>Time of day (evening = calming; morning = motivational)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3145536"/>
            <a:ext cx="4133088" cy="0"/>
          </a:xfrm>
          <a:prstGeom prst="line">
            <a:avLst/>
          </a:prstGeom>
          <a:noFill/>
          <a:ln w="12700">
            <a:solidFill>
              <a:srgbClr val="E0EA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200400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B788"/>
                </a:solidFill>
              </a:rPr>
              <a:t>EXAMPLE SELECTIONS: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438144"/>
            <a:ext cx="4169664" cy="274320"/>
          </a:xfrm>
          <a:prstGeom prst="rect">
            <a:avLst/>
          </a:prstGeom>
          <a:solidFill>
            <a:srgbClr val="F4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483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Craving + High Risk + Alcohol + Evening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784848" y="3483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A87C"/>
                </a:solidFill>
              </a:rPr>
              <a:t>→  'Urge Surfing for Alcohol Cravings' (3 min)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63440" y="3767328"/>
            <a:ext cx="4169664" cy="274320"/>
          </a:xfrm>
          <a:prstGeom prst="rect">
            <a:avLst/>
          </a:prstGeom>
          <a:solidFill>
            <a:srgbClr val="F4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18304" y="3813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Venting + Stressed + Cannabis + Any time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784848" y="3813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A87C"/>
                </a:solidFill>
              </a:rPr>
              <a:t>→  'Count to Ten — Mindful Pause' (2 min)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63440" y="4096512"/>
            <a:ext cx="4169664" cy="274320"/>
          </a:xfrm>
          <a:prstGeom prst="rect">
            <a:avLst/>
          </a:prstGeom>
          <a:solidFill>
            <a:srgbClr val="F4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Info query: why do I crave at night?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784848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A87C"/>
                </a:solidFill>
              </a:rPr>
              <a:t>→  'Understanding Nighttime Triggers' (5 min)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663440" y="4425696"/>
            <a:ext cx="4169664" cy="274320"/>
          </a:xfrm>
          <a:prstGeom prst="rect">
            <a:avLst/>
          </a:prstGeom>
          <a:solidFill>
            <a:srgbClr val="FFF0F0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714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Crisis detected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784848" y="44714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A87C"/>
                </a:solidFill>
              </a:rPr>
              <a:t>→  'Start 2-Minute Breathing' (auto-plays, no choice)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2D">
              <a:alpha val="12000"/>
            </a:srgbClr>
          </a:solidFill>
          <a:ln w="12700">
            <a:solidFill>
              <a:srgbClr val="0D1F2D">
                <a:alpha val="1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Trust AI  •  Response Composition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</a:rPr>
              <a:t>TONE ENGINE — HOW THE CHATBOT'S VOICE ADAPTS TO EVERY PATIENT STATE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A6E"/>
                </a:solidFill>
              </a:rPr>
              <a:t>The same information delivered in the wrong tone can cause harm. Tone is not a style preference — it is a clinical parameter.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9264"/>
            <a:ext cx="2834640" cy="31089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005840"/>
            <a:ext cx="640080" cy="237744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014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042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LOW RISK + HAPPY / MOTIVATED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33502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B788"/>
                </a:solidFill>
              </a:rPr>
              <a:t>TONE: Warm and Energising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517904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Upbeat but not patronising. Celebrates wins. Uses the patient's name. References their specific milestone.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66544" y="1353312"/>
            <a:ext cx="914400" cy="786384"/>
          </a:xfrm>
          <a:prstGeom prst="rect">
            <a:avLst/>
          </a:prstGeom>
          <a:solidFill>
            <a:srgbClr val="52B788">
              <a:alpha val="9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38988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F2D"/>
                </a:solidFill>
              </a:rPr>
              <a:t>✓  'You've got this.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1A1A"/>
                </a:solidFill>
              </a:rPr>
              <a:t>✗  Avoid clinical language. Avoid being preachy.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3236976" y="969264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36976" y="969264"/>
            <a:ext cx="2834640" cy="3108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8384" y="1005840"/>
            <a:ext cx="640080" cy="237744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1014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46704" y="1042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 RISK + STRESSED / ANXIOUS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46704" y="133502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</a:rPr>
              <a:t>TONE: Calm and Grounding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46704" y="1517904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Slower pacing in sentence structure. Shorter sentences. Breathe-first approach. No urgency in tone.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47488" y="1353312"/>
            <a:ext cx="914400" cy="786384"/>
          </a:xfrm>
          <a:prstGeom prst="rect">
            <a:avLst/>
          </a:prstGeom>
          <a:solidFill>
            <a:srgbClr val="D4A017">
              <a:alpha val="9000"/>
            </a:srgbClr>
          </a:solidFill>
          <a:ln w="12700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138988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F2D"/>
                </a:solidFill>
              </a:rPr>
              <a:t>✓  'Let's slow down a moment.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46704" y="246888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1A1A"/>
                </a:solidFill>
              </a:rPr>
              <a:t>✗  Avoid high-energy language. Avoid lists and plans when patient is over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6217920" y="969264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969264"/>
            <a:ext cx="2834640" cy="310896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1005840"/>
            <a:ext cx="640080" cy="237744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1014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WATCH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27648" y="1042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 RISK + SAD / LONELY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27648" y="133502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FA0"/>
                </a:solidFill>
              </a:rPr>
              <a:t>TONE: Warm and Present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27648" y="1517904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Sit with the sadness first — don't rush to fix it. Gentle normalisation. Peer connection themes.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28432" y="1353312"/>
            <a:ext cx="914400" cy="786384"/>
          </a:xfrm>
          <a:prstGeom prst="rect">
            <a:avLst/>
          </a:prstGeom>
          <a:solidFill>
            <a:srgbClr val="7B6FA0">
              <a:alpha val="9000"/>
            </a:srgbClr>
          </a:solidFill>
          <a:ln w="12700">
            <a:solidFill>
              <a:srgbClr val="7B6FA0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65008" y="138988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F2D"/>
                </a:solidFill>
              </a:rPr>
              <a:t>✓  'It makes sense to feel this way.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327648" y="246888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1A1A"/>
                </a:solidFill>
              </a:rPr>
              <a:t>✗  Avoid silver linings. Avoid 'at least...' framing. Don't minimise the 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56032" y="2779776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2779776"/>
            <a:ext cx="2834640" cy="310896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2816352"/>
            <a:ext cx="640080" cy="237744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28254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" y="2852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 RISK + CRAVING (ACTIVE URGE)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" y="314553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7C"/>
                </a:solidFill>
              </a:rPr>
              <a:t>TONE: Direct and Immediate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3328416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No preamble. Get to the tool fast. Short, punchy sentences. One action, right now.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066544" y="3163824"/>
            <a:ext cx="914400" cy="786384"/>
          </a:xfrm>
          <a:prstGeom prst="rect">
            <a:avLst/>
          </a:prstGeom>
          <a:solidFill>
            <a:srgbClr val="E8A87C">
              <a:alpha val="9000"/>
            </a:srgbClr>
          </a:solidFill>
          <a:ln w="12700">
            <a:solidFill>
              <a:srgbClr val="E8A87C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320040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F2D"/>
                </a:solidFill>
              </a:rPr>
              <a:t>✓  'Let's do this right now.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65760" y="427939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1A1A"/>
                </a:solidFill>
              </a:rPr>
              <a:t>✗  Avoid long explanations. Avoid asking why. Avoid anything that require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3236976" y="2779776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36976" y="2779776"/>
            <a:ext cx="2834640" cy="31089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58384" y="2816352"/>
            <a:ext cx="640080" cy="237744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58384" y="28254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CRISIS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346704" y="2852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CRITICAL — CRISIS / HARM IDEATION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46704" y="314553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1A1A"/>
                </a:solidFill>
              </a:rPr>
              <a:t>TONE: Quiet and Stabilising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346704" y="3328416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Very short responses. Present tense only. No future planning. No questions. Just presence and one breathing anchor. Background: sponsor call firing.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47488" y="3163824"/>
            <a:ext cx="914400" cy="786384"/>
          </a:xfrm>
          <a:prstGeom prst="rect">
            <a:avLst/>
          </a:prstGeom>
          <a:solidFill>
            <a:srgbClr val="8B1A1A">
              <a:alpha val="9000"/>
            </a:srgbClr>
          </a:solidFill>
          <a:ln w="12700">
            <a:solidFill>
              <a:srgbClr val="8B1A1A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84064" y="320040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F2D"/>
                </a:solidFill>
              </a:rPr>
              <a:t>✓  'I'm here.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346704" y="427939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1A1A"/>
                </a:solidFill>
              </a:rPr>
              <a:t>✗  NEVER ask 'Are you going to hurt yourself?' — this is not the chatbot'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6217920" y="2779776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17920" y="2779776"/>
            <a:ext cx="2834640" cy="310896"/>
          </a:xfrm>
          <a:prstGeom prst="rect">
            <a:avLst/>
          </a:prstGeom>
          <a:solidFill>
            <a:srgbClr val="8B5000"/>
          </a:solidFill>
          <a:ln w="12700">
            <a:solidFill>
              <a:srgbClr val="8B5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39328" y="2816352"/>
            <a:ext cx="640080" cy="237744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39328" y="28254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RELAPSE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327648" y="2852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RELAPSE DISCLOSURE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327648" y="314553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000"/>
                </a:solidFill>
              </a:rPr>
              <a:t>TONE: Non-Judgmental and Compassionate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27648" y="3328416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Normalise the slip as part of recovery — not failure. Shame is the enemy of recovery. Every word must communicate 'you are still worthy of support.'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028432" y="3163824"/>
            <a:ext cx="914400" cy="786384"/>
          </a:xfrm>
          <a:prstGeom prst="rect">
            <a:avLst/>
          </a:prstGeom>
          <a:solidFill>
            <a:srgbClr val="8B5000">
              <a:alpha val="9000"/>
            </a:srgbClr>
          </a:solidFill>
          <a:ln w="12700">
            <a:solidFill>
              <a:srgbClr val="8B5000">
                <a:alpha val="3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65008" y="320040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F2D"/>
                </a:solidFill>
              </a:rPr>
              <a:t>✓  'Slips happen — they don't erase your progress.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327648" y="427939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1A1A"/>
                </a:solidFill>
              </a:rPr>
              <a:t>✗  NEVER use: 'What happened?', 'That's a setback', 'You were doing so we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2D">
              <a:alpha val="12000"/>
            </a:srgbClr>
          </a:solidFill>
          <a:ln w="12700">
            <a:solidFill>
              <a:srgbClr val="0D1F2D">
                <a:alpha val="1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Trust AI  •  Tone Engine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</a:rPr>
              <a:t>END-TO-END CONVERSATION EXAMPLES — WHAT IT ACTUALLY LOOKS LIKE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694944"/>
            <a:ext cx="4206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94944"/>
            <a:ext cx="420624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SCENARIO A: Evening Craving — Alcohol Patient, High Risk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3986784" cy="237744"/>
          </a:xfrm>
          <a:prstGeom prst="rect">
            <a:avLst/>
          </a:prstGeom>
          <a:solidFill>
            <a:srgbClr val="E8A87C">
              <a:alpha val="12000"/>
            </a:srgbClr>
          </a:solidFill>
          <a:ln w="12700">
            <a:solidFill>
              <a:srgbClr val="E8A87C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9728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State: Risk 72/100 · Mood: Stressed · Sleep: Poor · Time: 9:47pm · Addiction: Alcohol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84048" y="1389888"/>
            <a:ext cx="3931920" cy="1024128"/>
          </a:xfrm>
          <a:prstGeom prst="rect">
            <a:avLst/>
          </a:prstGeom>
          <a:solidFill>
            <a:srgbClr val="F4F8FA"/>
          </a:solidFill>
          <a:ln w="12700">
            <a:solidFill>
              <a:srgbClr val="E8A87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389888"/>
            <a:ext cx="54864" cy="1024128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426464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BOT:  Hi Alvin. Your stress was high in today's check-in, and sleep was rough last night — evenings can be the hardest part. I'm here if you need me.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" y="2505456"/>
            <a:ext cx="393192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C25B7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505456"/>
            <a:ext cx="54864" cy="822960"/>
          </a:xfrm>
          <a:prstGeom prst="rect">
            <a:avLst/>
          </a:prstGeom>
          <a:solidFill>
            <a:srgbClr val="C25B7A"/>
          </a:solidFill>
          <a:ln w="12700">
            <a:solidFill>
              <a:srgbClr val="C25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542032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PATIENT:  I'm staring at a bottle in the kitchen. I don't know what to do.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3419856"/>
            <a:ext cx="3931920" cy="1024128"/>
          </a:xfrm>
          <a:prstGeom prst="rect">
            <a:avLst/>
          </a:prstGeom>
          <a:solidFill>
            <a:srgbClr val="F4F8FA"/>
          </a:solidFill>
          <a:ln w="12700">
            <a:solidFill>
              <a:srgbClr val="E8A87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419856"/>
            <a:ext cx="54864" cy="1024128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456432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BOT:  That pull is real, and the fact you're here instead of opening it already matters. Let's do one thing right now — don't move from where you are.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[▶ Urge Surfing — 3 min] Plays immediately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4535424"/>
            <a:ext cx="3931920" cy="822960"/>
          </a:xfrm>
          <a:prstGeom prst="rect">
            <a:avLst/>
          </a:prstGeom>
          <a:solidFill>
            <a:srgbClr val="F4F8FA"/>
          </a:solidFill>
          <a:ln w="12700">
            <a:solidFill>
              <a:srgbClr val="E8A87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4535424"/>
            <a:ext cx="54864" cy="8229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572000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BOT:  While you watch that — your sponsor Ramesh is a call away. Want me to connect you?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36592" y="694944"/>
            <a:ext cx="4206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694944"/>
            <a:ext cx="420624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74980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SCENARIO B: Psychoeducation Query — Cannabis Patient, Medium Risk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1078992"/>
            <a:ext cx="3986784" cy="237744"/>
          </a:xfrm>
          <a:prstGeom prst="rect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09728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A6E"/>
                </a:solidFill>
              </a:rPr>
              <a:t>State: Risk 48/100 · Mood: Neutral · Sleep: OK · Time: 2:15pm · Addiction: Cannabis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64608" y="1389888"/>
            <a:ext cx="3931920" cy="822960"/>
          </a:xfrm>
          <a:prstGeom prst="rect">
            <a:avLst/>
          </a:prstGeom>
          <a:solidFill>
            <a:srgbClr val="F4F8FA"/>
          </a:solidFill>
          <a:ln w="12700">
            <a:solidFill>
              <a:srgbClr val="0A7EA4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4608" y="1389888"/>
            <a:ext cx="54864" cy="8229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1426464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BOT:  Hey Alvin. Your check-in looked steady today — how's the afternoon treating you?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64608" y="2304288"/>
            <a:ext cx="3931920" cy="822960"/>
          </a:xfrm>
          <a:prstGeom prst="rect">
            <a:avLst/>
          </a:prstGeom>
          <a:solidFill>
            <a:srgbClr val="EAF4FF"/>
          </a:solidFill>
          <a:ln w="12700">
            <a:solidFill>
              <a:srgbClr val="0A7EA4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2304288"/>
            <a:ext cx="54864" cy="8229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2340864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PATIENT:  Why do I always get anxious when I try to quit? It feels like my brain is broken.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64608" y="3218688"/>
            <a:ext cx="3931920" cy="1024128"/>
          </a:xfrm>
          <a:prstGeom prst="rect">
            <a:avLst/>
          </a:prstGeom>
          <a:solidFill>
            <a:srgbClr val="F4F8FA"/>
          </a:solidFill>
          <a:ln w="12700">
            <a:solidFill>
              <a:srgbClr val="0A7EA4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3218688"/>
            <a:ext cx="54864" cy="10241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3255264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BOT:  Your brain isn't broken — it's adapting. Cannabis affects your brain's natural anxiety regulation, so early in recovery the anxiety feels amplified. This is temporary and it does get better.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[▶ Understanding Cannabis &amp; Anxiety — 5 min]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2D">
              <a:alpha val="12000"/>
            </a:srgbClr>
          </a:solidFill>
          <a:ln w="12700">
            <a:solidFill>
              <a:srgbClr val="0D1F2D">
                <a:alpha val="1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Trust AI  •  Conversation Examples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C25B7A"/>
          </a:solidFill>
          <a:ln w="12700">
            <a:solidFill>
              <a:srgbClr val="C25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</a:rPr>
              <a:t>CLINICAL GUARDRAILS — WHAT THE CHATBOT MUST NEVER 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A6E"/>
                </a:solidFill>
              </a:rPr>
              <a:t>These are not UX preferences. These are clinical requirements agreed with the psychiatry team.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4206240" cy="877824"/>
          </a:xfrm>
          <a:prstGeom prst="rect">
            <a:avLst/>
          </a:prstGeom>
          <a:solidFill>
            <a:srgbClr val="FFF8F8"/>
          </a:solidFill>
          <a:ln w="12700">
            <a:solidFill>
              <a:srgbClr val="F0C0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9264"/>
            <a:ext cx="384048" cy="877824"/>
          </a:xfrm>
          <a:prstGeom prst="rect">
            <a:avLst/>
          </a:prstGeom>
          <a:solidFill>
            <a:srgbClr val="C25B7A">
              <a:alpha val="20000"/>
            </a:srgbClr>
          </a:solidFill>
          <a:ln w="12700">
            <a:solidFill>
              <a:srgbClr val="C25B7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2252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060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2D"/>
                </a:solidFill>
              </a:rPr>
              <a:t>Never diagnose or label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3167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The chatbot must never say 'You have anxiety disorder' or 'This sounds like PTSD'. Labelling is a clinical act. The chatbot supports — it does not assess.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36592" y="969264"/>
            <a:ext cx="4206240" cy="877824"/>
          </a:xfrm>
          <a:prstGeom prst="rect">
            <a:avLst/>
          </a:prstGeom>
          <a:solidFill>
            <a:srgbClr val="FFF8F8"/>
          </a:solidFill>
          <a:ln w="12700">
            <a:solidFill>
              <a:srgbClr val="F0C0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969264"/>
            <a:ext cx="384048" cy="877824"/>
          </a:xfrm>
          <a:prstGeom prst="rect">
            <a:avLst/>
          </a:prstGeom>
          <a:solidFill>
            <a:srgbClr val="C25B7A">
              <a:alpha val="20000"/>
            </a:srgbClr>
          </a:solidFill>
          <a:ln w="12700">
            <a:solidFill>
              <a:srgbClr val="C25B7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2252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060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2D"/>
                </a:solidFill>
              </a:rPr>
              <a:t>Never conduct risk assessments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0" y="13167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Do not ask 'Are you thinking of hurting yourself?' — this is a clinical assessment tool, not a chatbot's role. If crisis signals appear, escalate silently to sponsor call + human therapist.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920240"/>
            <a:ext cx="4206240" cy="877824"/>
          </a:xfrm>
          <a:prstGeom prst="rect">
            <a:avLst/>
          </a:prstGeom>
          <a:solidFill>
            <a:srgbClr val="FFF8F8"/>
          </a:solidFill>
          <a:ln w="12700">
            <a:solidFill>
              <a:srgbClr val="F0C0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920240"/>
            <a:ext cx="384048" cy="877824"/>
          </a:xfrm>
          <a:prstGeom prst="rect">
            <a:avLst/>
          </a:prstGeom>
          <a:solidFill>
            <a:srgbClr val="C25B7A">
              <a:alpha val="20000"/>
            </a:srgbClr>
          </a:solidFill>
          <a:ln w="12700">
            <a:solidFill>
              <a:srgbClr val="C25B7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17627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2D"/>
                </a:solidFill>
              </a:rPr>
              <a:t>Never give medication advice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22677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Any question about dosage, withdrawal medication, or 'can I stop taking X?' must be immediately routed to the assigned clinician — never answered by the chatbot.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36592" y="1920240"/>
            <a:ext cx="4206240" cy="877824"/>
          </a:xfrm>
          <a:prstGeom prst="rect">
            <a:avLst/>
          </a:prstGeom>
          <a:solidFill>
            <a:srgbClr val="FFF8F8"/>
          </a:solidFill>
          <a:ln w="12700">
            <a:solidFill>
              <a:srgbClr val="F0C0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1920240"/>
            <a:ext cx="384048" cy="877824"/>
          </a:xfrm>
          <a:prstGeom prst="rect">
            <a:avLst/>
          </a:prstGeom>
          <a:solidFill>
            <a:srgbClr val="C25B7A">
              <a:alpha val="20000"/>
            </a:srgbClr>
          </a:solidFill>
          <a:ln w="12700">
            <a:solidFill>
              <a:srgbClr val="C25B7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17627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2D"/>
                </a:solidFill>
              </a:rPr>
              <a:t>Never persist in challenging a firmly held belief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0" y="22677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If a patient says 'I'm fine, I don't need help' — accept it. Do not argue. Gentle acknowledgement only. Forced help-seeking creates resistance and disengagement.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871216"/>
            <a:ext cx="4206240" cy="877824"/>
          </a:xfrm>
          <a:prstGeom prst="rect">
            <a:avLst/>
          </a:prstGeom>
          <a:solidFill>
            <a:srgbClr val="FFF8F8"/>
          </a:solidFill>
          <a:ln w="12700">
            <a:solidFill>
              <a:srgbClr val="F0C0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871216"/>
            <a:ext cx="384048" cy="877824"/>
          </a:xfrm>
          <a:prstGeom prst="rect">
            <a:avLst/>
          </a:prstGeom>
          <a:solidFill>
            <a:srgbClr val="C25B7A">
              <a:alpha val="20000"/>
            </a:srgbClr>
          </a:solidFill>
          <a:ln w="12700">
            <a:solidFill>
              <a:srgbClr val="C25B7A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312724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2962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2D"/>
                </a:solidFill>
              </a:rPr>
              <a:t>Never simulate a human therapist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32186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The chatbot must not claim it 'understands' feelings. It should say 'I hear you' not 'I understand exactly how you feel.' Transparency about what it is builds — not breaks — trust.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36592" y="2871216"/>
            <a:ext cx="4206240" cy="877824"/>
          </a:xfrm>
          <a:prstGeom prst="rect">
            <a:avLst/>
          </a:prstGeom>
          <a:solidFill>
            <a:srgbClr val="FFF8F8"/>
          </a:solidFill>
          <a:ln w="12700">
            <a:solidFill>
              <a:srgbClr val="F0C0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2871216"/>
            <a:ext cx="384048" cy="877824"/>
          </a:xfrm>
          <a:prstGeom prst="rect">
            <a:avLst/>
          </a:prstGeom>
          <a:solidFill>
            <a:srgbClr val="C25B7A">
              <a:alpha val="20000"/>
            </a:srgbClr>
          </a:solidFill>
          <a:ln w="12700">
            <a:solidFill>
              <a:srgbClr val="C25B7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12724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2962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2D"/>
                </a:solidFill>
              </a:rPr>
              <a:t>Never re-traumatise through repetitive questioning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12080" y="32186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If a patient disclosed something painful in a previous session, the chatbot must not ask them to repeat or re-explain it unless the patient introduces it. Use session history to remember, not to probe.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3822192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822192"/>
            <a:ext cx="384048" cy="877824"/>
          </a:xfrm>
          <a:prstGeom prst="rect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07822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3913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2D"/>
                </a:solidFill>
              </a:rPr>
              <a:t>Always offer a human opt-out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" y="41696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Every exchange must have a path to 'Talk to my therapist'. Never make the chatbot feel like the only door. The moment a patient asks for a human, the chatbot steps back immediately.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36592" y="3822192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36592" y="3822192"/>
            <a:ext cx="384048" cy="877824"/>
          </a:xfrm>
          <a:prstGeom prst="rect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407822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3913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2D"/>
                </a:solidFill>
              </a:rPr>
              <a:t>Maintain confidentiality framing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12080" y="41696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E"/>
                </a:solidFill>
              </a:rPr>
              <a:t>Never mention that the conversation is being used to train the model or update the risk score unless the patient explicitly asks. Transparency on data use is in the consent — not surfaced mid-conversation.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2D">
              <a:alpha val="12000"/>
            </a:srgbClr>
          </a:solidFill>
          <a:ln w="12700">
            <a:solidFill>
              <a:srgbClr val="0D1F2D">
                <a:alpha val="1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Trust AI  •  Clinical Guardrails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</a:rPr>
              <a:t>BUILD SPECIFICATION — WHAT THE ENGINEERING TEAM NEEDS TO IMPLEMENT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4206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13232"/>
            <a:ext cx="420624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8638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 LOADER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Runs before every chat session opens. Fetches live patient state from Redis (mood, risk score, crisis flag, addiction type, last check-in, last 3 videos watched, session history themes).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986784" cy="0"/>
          </a:xfrm>
          <a:prstGeom prst="line">
            <a:avLst/>
          </a:prstGeom>
          <a:noFill/>
          <a:ln w="8890">
            <a:solidFill>
              <a:srgbClr val="E0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934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IN: patient_id + session_start event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79222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7EA4"/>
                </a:solidFill>
              </a:rPr>
              <a:t>OUT: Populated context object injected into LLM system prompt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36592" y="713232"/>
            <a:ext cx="4206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713232"/>
            <a:ext cx="4206240" cy="329184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78638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INTENT CLASSIFIER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09728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Lightweight NLP model that classifies every patient message into: venting, craving, information, progress, relapse, crisis. Also scores urgency (0–1) and detects crisis language.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572768"/>
            <a:ext cx="3986784" cy="0"/>
          </a:xfrm>
          <a:prstGeom prst="line">
            <a:avLst/>
          </a:prstGeom>
          <a:noFill/>
          <a:ln w="8890">
            <a:solidFill>
              <a:srgbClr val="E0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0934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IN: Raw patient message text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46320" y="179222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6FA0"/>
                </a:solidFill>
              </a:rPr>
              <a:t>OUT: intent_class, urgency_score, crisis_flag (bool), emotion_label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713232"/>
            <a:ext cx="4206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713232"/>
            <a:ext cx="420624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78638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TONE SELECTOR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109728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Maps patient state (risk level + mood + intent) to one of 6 tone profiles: energising, grounding, present, direct, stabilising, compassionate. Injected into system prompt.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1572768"/>
            <a:ext cx="3986784" cy="0"/>
          </a:xfrm>
          <a:prstGeom prst="line">
            <a:avLst/>
          </a:prstGeom>
          <a:noFill/>
          <a:ln w="8890">
            <a:solidFill>
              <a:srgbClr val="E0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60934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IN: risk_level + mood_state + intent_class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" y="179222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A87C"/>
                </a:solidFill>
              </a:rPr>
              <a:t>OUT: tone_profile_name → appended to system prompt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36592" y="2157984"/>
            <a:ext cx="4206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2157984"/>
            <a:ext cx="42062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3113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LLM RESPONSE GENERATOR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Generates the 2–3 line text response using: context object + tone profile + intent class + RAG retrieval (for info queries). Hard-capped at 3 sentences. No lists. No bullet points.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3017520"/>
            <a:ext cx="3986784" cy="0"/>
          </a:xfrm>
          <a:prstGeom prst="line">
            <a:avLst/>
          </a:prstGeom>
          <a:noFill/>
          <a:ln w="8890">
            <a:solidFill>
              <a:srgbClr val="E0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54096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IN: System prompt (context+tone+intent) + patient message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46320" y="323697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OUT: 2–3 sentence text response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" y="2157984"/>
            <a:ext cx="4206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2157984"/>
            <a:ext cx="4206240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23113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VIDEO SELECTOR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254203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Calls content recommendation engine with intent_class + addiction_type + mood_state + risk_level + watch_history. Returns top-1 video. In crisis: always returns breathing video regardless of other signals.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017520"/>
            <a:ext cx="3986784" cy="0"/>
          </a:xfrm>
          <a:prstGeom prst="line">
            <a:avLst/>
          </a:prstGeom>
          <a:noFill/>
          <a:ln w="8890">
            <a:solidFill>
              <a:srgbClr val="E0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054096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IN: Patient state vector + intent class + watch history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65760" y="323697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B788"/>
                </a:solidFill>
              </a:rPr>
              <a:t>OUT: video_id + metadata for rendering in chat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36592" y="2157984"/>
            <a:ext cx="4206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2157984"/>
            <a:ext cx="4206240" cy="32918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23113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CRISIS OVERRIDE LAYER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254203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F2D"/>
                </a:solidFill>
              </a:rPr>
              <a:t>Intercepts the full response pipeline if crisis_flag=TRUE or urgency_score &gt; 0.85. Replaces tone selector and LLM response with hardcoded stabilising micro-response. Auto-loads breathing video. Fires Kafka CRISIS_EVENT.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3017520"/>
            <a:ext cx="3986784" cy="0"/>
          </a:xfrm>
          <a:prstGeom prst="line">
            <a:avLst/>
          </a:prstGeom>
          <a:noFill/>
          <a:ln w="8890">
            <a:solidFill>
              <a:srgbClr val="E0EA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054096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IN: crisis_flag=TRUE OR urgency_score&gt;0.85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46320" y="323697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1A1A"/>
                </a:solidFill>
              </a:rPr>
              <a:t>OUT: Crisis micro-response + breathing video + CRISIS_EVENT to Kafka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2D">
              <a:alpha val="12000"/>
            </a:srgbClr>
          </a:solidFill>
          <a:ln w="12700">
            <a:solidFill>
              <a:srgbClr val="0D1F2D">
                <a:alpha val="1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Trust AI  •  Engineering Specification  •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 AI — Intelligent Chatbot Design: A Techno-Psychiatrist Perspective</dc:title>
  <dc:subject>PptxGenJS Presentation</dc:subject>
  <dc:creator>PptxGenJS</dc:creator>
  <cp:lastModifiedBy>PptxGenJS</cp:lastModifiedBy>
  <cp:revision>1</cp:revision>
  <dcterms:created xsi:type="dcterms:W3CDTF">2026-03-15T16:49:42Z</dcterms:created>
  <dcterms:modified xsi:type="dcterms:W3CDTF">2026-03-15T16:49:42Z</dcterms:modified>
</cp:coreProperties>
</file>